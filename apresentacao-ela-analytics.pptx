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7541e5728849e3" /><Relationship Type="http://schemas.openxmlformats.org/officeDocument/2006/relationships/extended-properties" Target="/docProps/app.xml" Id="R731fae108dce4ed3" /><Relationship Type="http://schemas.openxmlformats.org/officeDocument/2006/relationships/officeDocument" Target="/ppt/presentation.xml" Id="Re156a08a1211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dd198e317f4eaa"/>
  </p:sldMasterIdLst>
  <p:notesMasterIdLst>
    <p:notesMasterId xmlns:r="http://schemas.openxmlformats.org/officeDocument/2006/relationships" r:id="R783cc830ef864a79"/>
  </p:notesMasterIdLst>
  <p:sldIdLst>
    <p:sldId xmlns:r="http://schemas.openxmlformats.org/officeDocument/2006/relationships" id="256" r:id="R79c98482f7a54f84"/>
    <p:sldId xmlns:r="http://schemas.openxmlformats.org/officeDocument/2006/relationships" id="257" r:id="R1715ad2d4f7c4aea"/>
    <p:sldId xmlns:r="http://schemas.openxmlformats.org/officeDocument/2006/relationships" id="258" r:id="Rf87526cae45748c7"/>
    <p:sldId xmlns:r="http://schemas.openxmlformats.org/officeDocument/2006/relationships" id="259" r:id="Ra51b3491c14948ce"/>
    <p:sldId xmlns:r="http://schemas.openxmlformats.org/officeDocument/2006/relationships" id="260" r:id="Rfbc849b1521946d6"/>
    <p:sldId xmlns:r="http://schemas.openxmlformats.org/officeDocument/2006/relationships" id="261" r:id="R56f491d40a6c4be1"/>
    <p:sldId xmlns:r="http://schemas.openxmlformats.org/officeDocument/2006/relationships" id="262" r:id="R4067e8736da84d01"/>
    <p:sldId xmlns:r="http://schemas.openxmlformats.org/officeDocument/2006/relationships" id="263" r:id="R55680d2bb87b403e"/>
    <p:sldId xmlns:r="http://schemas.openxmlformats.org/officeDocument/2006/relationships" id="264" r:id="R5f75473b97ca4e46"/>
    <p:sldId xmlns:r="http://schemas.openxmlformats.org/officeDocument/2006/relationships" id="265" r:id="R1f513dd6824f486f"/>
    <p:sldId xmlns:r="http://schemas.openxmlformats.org/officeDocument/2006/relationships" id="266" r:id="Rb6b487cd833e48bd"/>
    <p:sldId xmlns:r="http://schemas.openxmlformats.org/officeDocument/2006/relationships" id="267" r:id="R9ce027b93dc64b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0b14f643c3413e" /><Relationship Type="http://schemas.openxmlformats.org/officeDocument/2006/relationships/slideMaster" Target="/ppt/slideMasters/slideMaster1.xml" Id="R21dd198e317f4eaa" /><Relationship Type="http://schemas.openxmlformats.org/officeDocument/2006/relationships/notesMaster" Target="/ppt/notesMasters/notesMaster1.xml" Id="R783cc830ef864a79" /><Relationship Type="http://schemas.openxmlformats.org/officeDocument/2006/relationships/presProps" Target="/ppt/presProps.xml" Id="R52a8b4de0a634db0" /><Relationship Type="http://schemas.openxmlformats.org/officeDocument/2006/relationships/tableStyles" Target="/ppt/tableStyles.xml" Id="R837c92cf1f5b404b" /><Relationship Type="http://schemas.openxmlformats.org/officeDocument/2006/relationships/slide" Target="/ppt/slides/slide1.xml" Id="R79c98482f7a54f84" /><Relationship Type="http://schemas.openxmlformats.org/officeDocument/2006/relationships/slide" Target="/ppt/slides/slide2.xml" Id="R1715ad2d4f7c4aea" /><Relationship Type="http://schemas.openxmlformats.org/officeDocument/2006/relationships/slide" Target="/ppt/slides/slide3.xml" Id="Rf87526cae45748c7" /><Relationship Type="http://schemas.openxmlformats.org/officeDocument/2006/relationships/slide" Target="/ppt/slides/slide4.xml" Id="Ra51b3491c14948ce" /><Relationship Type="http://schemas.openxmlformats.org/officeDocument/2006/relationships/slide" Target="/ppt/slides/slide5.xml" Id="Rfbc849b1521946d6" /><Relationship Type="http://schemas.openxmlformats.org/officeDocument/2006/relationships/slide" Target="/ppt/slides/slide6.xml" Id="R56f491d40a6c4be1" /><Relationship Type="http://schemas.openxmlformats.org/officeDocument/2006/relationships/slide" Target="/ppt/slides/slide7.xml" Id="R4067e8736da84d01" /><Relationship Type="http://schemas.openxmlformats.org/officeDocument/2006/relationships/slide" Target="/ppt/slides/slide8.xml" Id="R55680d2bb87b403e" /><Relationship Type="http://schemas.openxmlformats.org/officeDocument/2006/relationships/slide" Target="/ppt/slides/slide9.xml" Id="R5f75473b97ca4e46" /><Relationship Type="http://schemas.openxmlformats.org/officeDocument/2006/relationships/slide" Target="/ppt/slides/slide10.xml" Id="R1f513dd6824f486f" /><Relationship Type="http://schemas.openxmlformats.org/officeDocument/2006/relationships/slide" Target="/ppt/slides/slide11.xml" Id="Rb6b487cd833e48bd" /><Relationship Type="http://schemas.openxmlformats.org/officeDocument/2006/relationships/slide" Target="/ppt/slides/slide12.xml" Id="R9ce027b93dc64b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3bc869dafa40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720025aa64140" /><Relationship Type="http://schemas.openxmlformats.org/officeDocument/2006/relationships/notesMaster" Target="/ppt/notesMasters/notesMaster1.xml" Id="R85309e7430c1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31bbb9166341d3" /><Relationship Type="http://schemas.openxmlformats.org/officeDocument/2006/relationships/notesMaster" Target="/ppt/notesMasters/notesMaster1.xml" Id="Rfec18f1701ef4a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9a743e3a74a9f" /><Relationship Type="http://schemas.openxmlformats.org/officeDocument/2006/relationships/notesMaster" Target="/ppt/notesMasters/notesMaster1.xml" Id="R36c9162122ff4b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5c0b7ce24c45f9" /><Relationship Type="http://schemas.openxmlformats.org/officeDocument/2006/relationships/notesMaster" Target="/ppt/notesMasters/notesMaster1.xml" Id="Raea8fc1628f843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a043afb69d4809" /><Relationship Type="http://schemas.openxmlformats.org/officeDocument/2006/relationships/notesMaster" Target="/ppt/notesMasters/notesMaster1.xml" Id="Rc0134d6ebbec41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886ccaa818487a" /><Relationship Type="http://schemas.openxmlformats.org/officeDocument/2006/relationships/notesMaster" Target="/ppt/notesMasters/notesMaster1.xml" Id="R084606941f2e4e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f79888f36b46de" /><Relationship Type="http://schemas.openxmlformats.org/officeDocument/2006/relationships/notesMaster" Target="/ppt/notesMasters/notesMaster1.xml" Id="R35f6082f0e3b45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9164282ee54f2d" /><Relationship Type="http://schemas.openxmlformats.org/officeDocument/2006/relationships/notesMaster" Target="/ppt/notesMasters/notesMaster1.xml" Id="R9b8c5726a9ab4a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fcb90723ce4e8f" /><Relationship Type="http://schemas.openxmlformats.org/officeDocument/2006/relationships/notesMaster" Target="/ppt/notesMasters/notesMaster1.xml" Id="R090f5493940440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674c1b34584312" /><Relationship Type="http://schemas.openxmlformats.org/officeDocument/2006/relationships/notesMaster" Target="/ppt/notesMasters/notesMaster1.xml" Id="R9954af802a2b44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8d22a995e941ac" /><Relationship Type="http://schemas.openxmlformats.org/officeDocument/2006/relationships/notesMaster" Target="/ppt/notesMasters/notesMaster1.xml" Id="R603c0d06ca0442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2b623490b7454d" /><Relationship Type="http://schemas.openxmlformats.org/officeDocument/2006/relationships/notesMaster" Target="/ppt/notesMasters/notesMaster1.xml" Id="R211f882a5b4d45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Boa noite. O nosso trabalho teve como objetivo construir um Data Warehouse. Entre os vários dados disponíveis na empresa, nós escolhemos analisar as vendas, porque elas permitem entender melhor o desempenho do negócio, os produtos, as formas de pagamento e o comportamento dos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nós temos a visão geral do dashboard que foi construído. Para orientar a análise, nós partimos de cinco perguntas: quanto a empresa vende, qual categoria se destaca, qual produto gera mais faturamento, qual forma de pagamento é mais utilizada e quem são os clientes que mais compram. A partir de agora eu vou abrir cada parte do painel para mostrar como nós chegamos às respostas.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Dentro do servidor já existiam os schemas das áreas da empresa. Para não alterar nem comprometer a base operacional, nós criamos o schema DW separadamente. Dentro dele, organizamos os dados usando o modelo estrela. No centro está a tabela fato_vendas, com quantidade, valor unitário e valor total. Em volta estão as dimensões de cliente, produto, forma de pagamento e tempo. Essa separação preserva os dados originais e deixa a estrutura preparada para as análises.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pergunta foi: quanto a empresa vende? Para responder, nós utilizamos o Data Mart de Vendas, principalmente as colunas de ano, mês, quantidade e faturamento. No recorte do dashboard, percebemos que o faturamento médio aumentou ao longo dos períodos analisados, saindo de aproximadamente 2,35 mil reais no primeiro período e chegando a 8,44 mil reais em 2026, considerando os dados disponíveis até o momento. Como 2026 está em YTD, ele ainda representa um período parcial.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 seguida, analisamos qual categoria vende mais. Para isso, usamos o Data Mart de Produtos, que reúne categoria, nome do produto, quantidade vendida e faturamento. No gráfico, Informática aparece como a categoria de maior participação, com 32% das vendas e aproximadamente 280,61 milhões de reais em faturamento.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Depois, buscamos o produto que gera maior faturamento. O gráfico permite comparar a evolução dos produtos, e o detalhamento vem do Data Mart de Produtos. Ao ordenar os valores, encontramos a Lavadora Ganca 10L como o item de maior faturamento, com aproximadamente 19,51 milhões de reais e 3.673 unidades vendidas.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quarta pergunta foi sobre a forma de pagamento mais utilizada. Essa resposta também veio do Data Mart de Vendas, por meio da coluna descrição. Ao comparar os valores, o Crédito aparece em primeiro lugar, com aproximadamente 150,46 milhões de reais em faturamento acumulado.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 fim, analisamos quem são os clientes que mais compram. O Data Mart de Clientes reúne ano, mês, cliente, quantidade e faturamento. O principal cliente encontrado foi Mendes Bezerra Comércio de Móveis, com aproximadamente 322,98 mil reais em faturamento e 349 itens comprados. Esse tipo de informação pode ajudar a empresa a identificar e manter um melhor relacionamento com seus clientes mais importantes.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apresenta o Data Mart de Vendas em tamanho ampliado. Nele podemos visualizar as informações de ano, mês, categoria, produto, forma de pagamento, quantidade e faturamento que foram utilizadas para construir as análises do painel.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está o Data Mart de Clientes em tamanho ampliado. Ele organiza as informações por ano, mês e cliente, mostrando a quantidade comprada e o faturamento de cada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Neste slide temos o Data Mart de Produtos ampliado. Ele reúne categoria, nome do produto, quantidade vendida e faturamento, permitindo comparar o desempenho dos diferentes produtos.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 o Data Warehouse, conseguimos reunir e organizar os dados para responder às perguntas que orientaram o projeto. Identificamos o comportamento do faturamento, a categoria e o produto de maior destaque, a principal forma de pagamento e os clientes que mais compram. Assim, os dados deixam de ser apenas registros e passam a oferecer informações que podem apoiar as decisões da empresa.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Dashboard, planilha, Data Marts e modelo estrela fornecidos pela equipe ELA Analytics.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c2a662b964b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02d32fbf54ff0" /><Relationship Type="http://schemas.openxmlformats.org/officeDocument/2006/relationships/slideLayout" Target="/ppt/slideLayouts/slideLayout1.xml" Id="Rc14b6f9b3b3f49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4b6f9b3b3f49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e628ca534e9e" /><Relationship Type="http://schemas.openxmlformats.org/officeDocument/2006/relationships/notesSlide" Target="/ppt/notesSlides/notesSlide1.xml" Id="R5f464900cd6c47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2e0971daf4d58" /><Relationship Type="http://schemas.openxmlformats.org/officeDocument/2006/relationships/image" Target="/ppt/media/image.png" Id="R37525b5ad075419d" /><Relationship Type="http://schemas.openxmlformats.org/officeDocument/2006/relationships/notesSlide" Target="/ppt/notesSlides/notesSlide2.xml" Id="R79efd09a63064b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67721ad8c4e45" /><Relationship Type="http://schemas.openxmlformats.org/officeDocument/2006/relationships/image" Target="/ppt/media/image.jpeg" Id="Rced02ec714f34076" /><Relationship Type="http://schemas.openxmlformats.org/officeDocument/2006/relationships/notesSlide" Target="/ppt/notesSlides/notesSlide3.xml" Id="Rd39a6fe23c624e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cd97234b24832" /><Relationship Type="http://schemas.openxmlformats.org/officeDocument/2006/relationships/image" Target="/ppt/media/image2.png" Id="Rfcdc9cbd04b54f93" /><Relationship Type="http://schemas.openxmlformats.org/officeDocument/2006/relationships/image" Target="/ppt/media/image2.jpeg" Id="R4004e70eea3e4770" /><Relationship Type="http://schemas.openxmlformats.org/officeDocument/2006/relationships/notesSlide" Target="/ppt/notesSlides/notesSlide4.xml" Id="R6490f3aebb084f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df703cba6646ee" /><Relationship Type="http://schemas.openxmlformats.org/officeDocument/2006/relationships/image" Target="/ppt/media/image3.png" Id="Rdb0a1db0177d4588" /><Relationship Type="http://schemas.openxmlformats.org/officeDocument/2006/relationships/image" Target="/ppt/media/image3.jpeg" Id="R08586e46092f4108" /><Relationship Type="http://schemas.openxmlformats.org/officeDocument/2006/relationships/notesSlide" Target="/ppt/notesSlides/notesSlide5.xml" Id="R4d69103935a64e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d032949764dfe" /><Relationship Type="http://schemas.openxmlformats.org/officeDocument/2006/relationships/image" Target="/ppt/media/image4.png" Id="R0deb85aa59fa4390" /><Relationship Type="http://schemas.openxmlformats.org/officeDocument/2006/relationships/image" Target="/ppt/media/image4.jpeg" Id="Rcfaabfa5d9604fd8" /><Relationship Type="http://schemas.openxmlformats.org/officeDocument/2006/relationships/notesSlide" Target="/ppt/notesSlides/notesSlide6.xml" Id="Rc42ba9b0c61f4b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dcfc5c7b4612" /><Relationship Type="http://schemas.openxmlformats.org/officeDocument/2006/relationships/image" Target="/ppt/media/image5.png" Id="Re1b93d007f37444c" /><Relationship Type="http://schemas.openxmlformats.org/officeDocument/2006/relationships/image" Target="/ppt/media/image5.jpeg" Id="R0f1fc653447e4d78" /><Relationship Type="http://schemas.openxmlformats.org/officeDocument/2006/relationships/notesSlide" Target="/ppt/notesSlides/notesSlide7.xml" Id="R5cd1d8ba83a54f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1bce8ba7a46cd" /><Relationship Type="http://schemas.openxmlformats.org/officeDocument/2006/relationships/image" Target="/ppt/media/image6.jpeg" Id="Rc6b2957783fb4f8d" /><Relationship Type="http://schemas.openxmlformats.org/officeDocument/2006/relationships/notesSlide" Target="/ppt/notesSlides/notesSlide8.xml" Id="Rb5f660a70e9b46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5c45bc6cc4ce1" /><Relationship Type="http://schemas.openxmlformats.org/officeDocument/2006/relationships/image" Target="/ppt/media/image7.jpeg" Id="R4009573898de4655" /><Relationship Type="http://schemas.openxmlformats.org/officeDocument/2006/relationships/notesSlide" Target="/ppt/notesSlides/notesSlide9.xml" Id="Re035b312333447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51551c90e4fe5" /><Relationship Type="http://schemas.openxmlformats.org/officeDocument/2006/relationships/image" Target="/ppt/media/image8.jpeg" Id="R9f91dae6d8114d80" /><Relationship Type="http://schemas.openxmlformats.org/officeDocument/2006/relationships/notesSlide" Target="/ppt/notesSlides/notesSlide10.xml" Id="R25f3aa2366bb43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e351d815b46ad" /><Relationship Type="http://schemas.openxmlformats.org/officeDocument/2006/relationships/image" Target="/ppt/media/image9.jpeg" Id="R2802de6ef0f24897" /><Relationship Type="http://schemas.openxmlformats.org/officeDocument/2006/relationships/notesSlide" Target="/ppt/notesSlides/notesSlide11.xml" Id="Rcf9dcf76cf2040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ca092c90b45c8" /><Relationship Type="http://schemas.openxmlformats.org/officeDocument/2006/relationships/notesSlide" Target="/ppt/notesSlides/notesSlide12.xml" Id="Rcc618f7985cf4c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3FA1B-CFE2-49F0-A864-6B70D46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52B02-E39C-419E-9AF7-19B14FC0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AFA61-A4AC-4EC4-A486-0B8542CF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0D7"/>
                </a:solidFill>
              </a:defRPr>
            </a:pPr>
            <a:r>
              <a:rPr sz="975" b="1">
                <a:solidFill>
                  <a:srgbClr val="B7C0D7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EF84E-5EF5-47B0-BA5D-9C08A740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Data Warehouse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A43DB-C573-425F-9613-42946D12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52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CFD7EA"/>
                </a:solidFill>
              </a:defRPr>
            </a:pPr>
            <a:r>
              <a:rPr sz="2175" b="0">
                <a:solidFill>
                  <a:srgbClr val="CFD7EA"/>
                </a:solidFill>
              </a:rPr>
              <a:t>Análise das vendas da empresa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5D4026-7C6D-4AC4-A1DC-02B05A3B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2EDF8-1D54-408F-B01C-1E48143F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Trabalho Final — Módulo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B8C55-4BD6-4F34-870B-C1B29EB2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FD7EA"/>
                </a:solidFill>
              </a:defRPr>
            </a:pPr>
            <a:r>
              <a:rPr sz="1350" b="0">
                <a:solidFill>
                  <a:srgbClr val="CFD7EA"/>
                </a:solidFill>
              </a:rPr>
              <a:t>Amanda • Eduarda • Larrise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089C3-34C7-4D9C-A149-A05CA226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0"/>
            <a:ext cx="4619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C7F35-CC16-4C71-A68F-554BA21E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ELA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C87D5D-AC63-4567-82F0-1707DA0F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AEC3"/>
                </a:solidFill>
              </a:defRPr>
            </a:pPr>
            <a:r>
              <a:rPr sz="1800" b="1">
                <a:solidFill>
                  <a:srgbClr val="25AEC3"/>
                </a:solidFill>
              </a:rPr>
              <a:t>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0530DC-D3A2-4DAD-B7C7-42F81F2A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Onde os dados contam</a:t>
            </a:r>
          </a:p>
          <a:p xmlns:a="http://schemas.openxmlformats.org/drawingml/2006/main">
            <a:pPr algn="ctr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 história do negócio</a:t>
            </a:r>
          </a:p>
        </p:txBody>
      </p:sp>
    </p:spTree>
    <p:extLst>
      <p:ext uri="{BB962C8B-B14F-4D97-AF65-F5344CB8AC3E}">
        <p14:creationId xmlns:p14="http://schemas.microsoft.com/office/powerpoint/2010/main" val="4912103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25b5ad075419d"/>
          <a:stretch xmlns:a="http://schemas.openxmlformats.org/drawingml/2006/main"/>
        </p:blipFill>
        <p:spPr>
          <a:xfrm xmlns:a="http://schemas.openxmlformats.org/drawingml/2006/main">
            <a:off x="218565" y="171450"/>
            <a:ext cx="11754870" cy="6267450"/>
          </a:xfrm>
          <a:prstGeom xmlns:a="http://schemas.openxmlformats.org/drawingml/2006/main" prst="roundRect">
            <a:avLst>
              <a:gd name="adj" fmla="val 121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DBA99-90BA-4162-9628-838A7761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B7D"/>
                </a:solidFill>
              </a:defRPr>
            </a:pPr>
            <a:r>
              <a:rPr sz="1050" b="1">
                <a:solidFill>
                  <a:srgbClr val="666B7D"/>
                </a:solidFill>
              </a:rPr>
              <a:t>Visão geral do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8AB1B7-2FA7-44E1-9EB9-FE313E5C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88715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CFF04-0A5F-4B8C-9BFD-14DB7E0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095F0-7B00-42EE-A958-17D9292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8FE52-A453-4F0B-9698-CFFBA53A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2B43D-E9B0-442A-9078-1403601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Como os dados foram organizados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B3F68-429D-4318-80E9-B114C689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Antes de analisar os gráficos, estruturamos as informações no modelo estrela.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02ec714f34076"/>
          <a:stretch xmlns:a="http://schemas.openxmlformats.org/drawingml/2006/main"/>
        </p:blipFill>
        <p:spPr>
          <a:xfrm xmlns:a="http://schemas.openxmlformats.org/drawingml/2006/main">
            <a:off x="1005342" y="1695450"/>
            <a:ext cx="7419067" cy="4762500"/>
          </a:xfrm>
          <a:prstGeom xmlns:a="http://schemas.openxmlformats.org/drawingml/2006/main" prst="roundRect">
            <a:avLst>
              <a:gd name="adj" fmla="val 160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C561B5-A96F-4413-8FBD-8CCFAAFB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097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ESTRUTURA CRIADA NO SCHEMA DW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AEB34-A3F4-4349-AF0C-9D93286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76450"/>
            <a:ext cx="233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BD09E-76FC-45FF-8DB8-762F72FB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D"/>
                </a:solidFill>
              </a:defRPr>
            </a:pPr>
            <a:r>
              <a:rPr sz="1200" b="0">
                <a:solidFill>
                  <a:srgbClr val="666B7D"/>
                </a:solidFill>
              </a:rPr>
              <a:t>Fato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A6A8C-DB8B-4A4E-8C6F-BC01A2E0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3365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0B3D"/>
                </a:solidFill>
              </a:defRPr>
            </a:pPr>
            <a:r>
              <a:rPr sz="1875" b="1">
                <a:solidFill>
                  <a:srgbClr val="070B3D"/>
                </a:solidFill>
              </a:rPr>
              <a:t>fato_vendas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04E44F-8244-4A72-923C-0FD255FE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6B7D"/>
                </a:solidFill>
              </a:defRPr>
            </a:pPr>
            <a:r>
              <a:rPr sz="1200" b="0">
                <a:solidFill>
                  <a:srgbClr val="666B7D"/>
                </a:solidFill>
              </a:rPr>
              <a:t>Dimensões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D7C335-AE67-47DF-A2A3-32F56D68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71850"/>
            <a:ext cx="2333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30"/>
                </a:solidFill>
              </a:defRPr>
            </a:pPr>
            <a:r>
              <a:rPr sz="1500" b="1">
                <a:solidFill>
                  <a:srgbClr val="111530"/>
                </a:solidFill>
              </a:rPr>
              <a:t>Cliente</a:t>
            </a:r>
          </a:p>
          <a:p xmlns:a="http://schemas.openxmlformats.org/drawingml/2006/main">
            <a:pPr algn="l">
              <a:defRPr sz="1500" b="1">
                <a:solidFill>
                  <a:srgbClr val="111530"/>
                </a:solidFill>
              </a:defRPr>
            </a:pPr>
            <a:r>
              <a:rPr sz="1500" b="1">
                <a:solidFill>
                  <a:srgbClr val="111530"/>
                </a:solidFill>
              </a:rPr>
              <a:t>Produto</a:t>
            </a:r>
          </a:p>
          <a:p xmlns:a="http://schemas.openxmlformats.org/drawingml/2006/main">
            <a:pPr algn="l">
              <a:defRPr sz="1500" b="1">
                <a:solidFill>
                  <a:srgbClr val="111530"/>
                </a:solidFill>
              </a:defRPr>
            </a:pPr>
            <a:r>
              <a:rPr sz="1500" b="1">
                <a:solidFill>
                  <a:srgbClr val="111530"/>
                </a:solidFill>
              </a:rPr>
              <a:t>Pagamento</a:t>
            </a:r>
          </a:p>
          <a:p xmlns:a="http://schemas.openxmlformats.org/drawingml/2006/main">
            <a:pPr algn="l">
              <a:defRPr sz="1500" b="1">
                <a:solidFill>
                  <a:srgbClr val="111530"/>
                </a:solidFill>
              </a:defRPr>
            </a:pPr>
            <a:r>
              <a:rPr sz="1500" b="1">
                <a:solidFill>
                  <a:srgbClr val="111530"/>
                </a:solidFill>
              </a:rPr>
              <a:t>Tempo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AF4BE-0594-413C-BB67-23D0C8E2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0537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4F8C4-0AEE-49CA-826F-3DDF4E12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95875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0B3D"/>
                </a:solidFill>
              </a:defRPr>
            </a:pPr>
            <a:r>
              <a:rPr sz="1350" b="1">
                <a:solidFill>
                  <a:srgbClr val="070B3D"/>
                </a:solidFill>
              </a:rPr>
              <a:t>O schema DW foi criado separadamente para preservar a base operacional.</a:t>
            </a:r>
          </a:p>
        </p:txBody>
      </p:sp>
    </p:spTree>
    <p:extLst>
      <p:ext uri="{BB962C8B-B14F-4D97-AF65-F5344CB8AC3E}">
        <p14:creationId xmlns:p14="http://schemas.microsoft.com/office/powerpoint/2010/main" val="8353563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F8F42D-12B7-4CA5-B709-1E4673C9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5E2F-9B7C-4A84-AF44-AE130B9E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971B9-984D-48EC-9A82-8B25E959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99015-8961-4E93-B2E4-E547EEBA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Quanto a empresa vende por mês?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52AFB-5AD3-4F42-BBF2-60C8D477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A primeira análise observa o faturamento médio ao longo do período.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DF0FE-E7C4-4893-AD90-4F073543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57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RECORTE DO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74D249-ECC0-4D13-A8A9-ABE0619E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57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c9cbd04b54f93"/>
          <a:stretch xmlns:a="http://schemas.openxmlformats.org/drawingml/2006/main"/>
        </p:blipFill>
        <p:spPr>
          <a:xfrm xmlns:a="http://schemas.openxmlformats.org/drawingml/2006/main">
            <a:off x="571500" y="2690186"/>
            <a:ext cx="6667500" cy="1096628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06645-6144-450F-BF56-D20C226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0B3D"/>
                </a:solidFill>
              </a:defRPr>
            </a:pPr>
            <a:r>
              <a:rPr sz="1725" b="1">
                <a:solidFill>
                  <a:srgbClr val="070B3D"/>
                </a:solidFill>
              </a:rPr>
              <a:t>O faturamento médio apresentado no painel cresce de R$ 2,35 mil no primeiro período para R$ 8,44 mil em 2026 (YTD).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D688EA-1D61-4C7E-A8D7-67E9CED0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14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ORIGEM DA ANÁLISE: DATA MART DE VENDAS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17A09-1626-4E5E-9CB5-3B5E9192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76450"/>
            <a:ext cx="371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4e70eea3e4770"/>
          <a:srcRect xmlns:a="http://schemas.openxmlformats.org/drawingml/2006/main" l="17808" t="0" r="178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2238375"/>
            <a:ext cx="3714750" cy="2619375"/>
          </a:xfrm>
          <a:prstGeom xmlns:a="http://schemas.openxmlformats.org/drawingml/2006/main" prst="roundRect">
            <a:avLst>
              <a:gd name="adj" fmla="val 290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00841-3773-47F1-B85B-4C861706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B7D"/>
                </a:solidFill>
              </a:defRPr>
            </a:pPr>
            <a:r>
              <a:rPr sz="1350" b="1">
                <a:solidFill>
                  <a:srgbClr val="666B7D"/>
                </a:solidFill>
              </a:rPr>
              <a:t>Ano • mês • quantidade • faturamento</a:t>
            </a:r>
          </a:p>
        </p:txBody>
      </p:sp>
    </p:spTree>
    <p:extLst>
      <p:ext uri="{BB962C8B-B14F-4D97-AF65-F5344CB8AC3E}">
        <p14:creationId xmlns:p14="http://schemas.microsoft.com/office/powerpoint/2010/main" val="1147406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3607EE-FECD-4246-AD61-20278FF1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A4D03-6D9B-4BB4-9987-EC57FA9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4D0A4-DCA8-4E5C-A938-DAADD4C5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8196-BE5E-4B4E-8AEB-11EBF639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Qual categoria vende mais?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41F83C-9F87-46BC-A245-219EF87D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O comparativo mostra a participação de cada categoria no faturamento.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20991-FACF-481F-8B89-C3A0755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RECORTE DO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2DECC-E967-4256-955E-8CCB5E01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a1db0177d4588"/>
          <a:stretch xmlns:a="http://schemas.openxmlformats.org/drawingml/2006/main"/>
        </p:blipFill>
        <p:spPr>
          <a:xfrm xmlns:a="http://schemas.openxmlformats.org/drawingml/2006/main">
            <a:off x="579050" y="2190750"/>
            <a:ext cx="4747399" cy="3190875"/>
          </a:xfrm>
          <a:prstGeom xmlns:a="http://schemas.openxmlformats.org/drawingml/2006/main" prst="roundRect">
            <a:avLst>
              <a:gd name="adj" fmla="val 238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E852F-6F2E-4D0C-8C09-DCD8FBF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0B3D"/>
                </a:solidFill>
              </a:defRPr>
            </a:pPr>
            <a:r>
              <a:rPr sz="2250" b="1">
                <a:solidFill>
                  <a:srgbClr val="070B3D"/>
                </a:solidFill>
              </a:rPr>
              <a:t>Informática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CF584-4C2D-4D3E-BA2E-8DD3F565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B7D"/>
                </a:solidFill>
              </a:defRPr>
            </a:pPr>
            <a:r>
              <a:rPr sz="1650" b="0">
                <a:solidFill>
                  <a:srgbClr val="666B7D"/>
                </a:solidFill>
              </a:rPr>
              <a:t>é a categoria com maior participação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1C1C4-9752-4D26-B8D5-1CEF0014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171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C32379"/>
                </a:solidFill>
              </a:defRPr>
            </a:pPr>
            <a:r>
              <a:rPr sz="3600" b="1">
                <a:solidFill>
                  <a:srgbClr val="C32379"/>
                </a:solidFill>
              </a:rPr>
              <a:t>32%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9E9294-3D4D-4A1F-80F9-77F44A39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6C8C"/>
                </a:solidFill>
              </a:defRPr>
            </a:pPr>
            <a:r>
              <a:rPr sz="1650" b="1">
                <a:solidFill>
                  <a:srgbClr val="116C8C"/>
                </a:solidFill>
              </a:rPr>
              <a:t>R$ 280,61 milhões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11231-0FC9-4A7C-83B0-9744D986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ORIGEM: DATA MART DE PRODUTOS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72710-B1BC-46FE-B8D7-1C505000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6e46092f4108"/>
          <a:srcRect xmlns:a="http://schemas.openxmlformats.org/drawingml/2006/main" l="21285" t="0" r="212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2238375"/>
            <a:ext cx="2667000" cy="314325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20233625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516A4B-3B4D-4ED6-A205-0A5AF3F2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7CFAC0-2DE9-4E86-A37A-10CC3A19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6A272-4440-4CC9-9E34-1D384826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8CC50-9A75-43CE-A245-4B20781B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Qual produto mais fatura?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F76DE-3DDC-4D87-B806-C51753D4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A análise detalha os resultados dentro das categorias.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373DF-7867-46DE-8FBF-6E466C27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RECORTE DO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A592E-6C3E-4855-8754-205B813D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b85aa59fa4390"/>
          <a:stretch xmlns:a="http://schemas.openxmlformats.org/drawingml/2006/main"/>
        </p:blipFill>
        <p:spPr>
          <a:xfrm xmlns:a="http://schemas.openxmlformats.org/drawingml/2006/main">
            <a:off x="571500" y="2190750"/>
            <a:ext cx="6191250" cy="3095625"/>
          </a:xfrm>
          <a:prstGeom xmlns:a="http://schemas.openxmlformats.org/drawingml/2006/main" prst="roundRect">
            <a:avLst>
              <a:gd name="adj" fmla="val 24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4F32D-85A8-4081-B3EB-BF0BC634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097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ORIGEM: DATA MART DE PRODUTOS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F195D-931A-4684-9692-00C1991C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7645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abfa5d9604fd8"/>
          <a:srcRect xmlns:a="http://schemas.openxmlformats.org/drawingml/2006/main" l="0" t="8028" r="0" b="80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2190750"/>
            <a:ext cx="4191000" cy="2381250"/>
          </a:xfrm>
          <a:prstGeom xmlns:a="http://schemas.openxmlformats.org/drawingml/2006/main" prst="roundRect">
            <a:avLst>
              <a:gd name="adj" fmla="val 320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DB05A-9A53-433F-A94B-B1F86C58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10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66B7D"/>
                </a:solidFill>
              </a:defRPr>
            </a:pPr>
            <a:r>
              <a:rPr sz="1200" b="1">
                <a:solidFill>
                  <a:srgbClr val="666B7D"/>
                </a:solidFill>
              </a:rPr>
              <a:t>Maior faturamento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D0B5E-CAFC-4F2F-9271-232E76F1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0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0B3D"/>
                </a:solidFill>
              </a:defRPr>
            </a:pPr>
            <a:r>
              <a:rPr sz="2175" b="1">
                <a:solidFill>
                  <a:srgbClr val="070B3D"/>
                </a:solidFill>
              </a:rPr>
              <a:t>Lavadora Ganca 10L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055C1-DF77-4C41-88A5-4C2A89E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6197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6C8C"/>
                </a:solidFill>
              </a:defRPr>
            </a:pPr>
            <a:r>
              <a:rPr sz="1875" b="1">
                <a:solidFill>
                  <a:srgbClr val="116C8C"/>
                </a:solidFill>
              </a:rPr>
              <a:t>R$ 19,51 milhões</a:t>
            </a:r>
          </a:p>
        </p:txBody>
      </p:sp>
    </p:spTree>
    <p:extLst>
      <p:ext uri="{BB962C8B-B14F-4D97-AF65-F5344CB8AC3E}">
        <p14:creationId xmlns:p14="http://schemas.microsoft.com/office/powerpoint/2010/main" val="18308816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0D4E1-6C3F-4FE9-A7C4-D8DF097D6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00510-28D4-4E17-9549-126C6865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394BB-9723-4759-943C-125B01B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CC42A-E935-4D2E-82F7-F72075B3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Qual forma de pagamento é mais utilizada?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D5781-F878-487C-8E7A-BC2B68C7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O Data Mart de Vendas também permite comparar os meios de pagamento.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48D01-EDD6-45C7-B6EA-DF5AAA80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RECORTE DO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2E682-9C82-4D4D-9AA4-3D6CC42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93d007f37444c"/>
          <a:stretch xmlns:a="http://schemas.openxmlformats.org/drawingml/2006/main"/>
        </p:blipFill>
        <p:spPr>
          <a:xfrm xmlns:a="http://schemas.openxmlformats.org/drawingml/2006/main">
            <a:off x="1155822" y="2190750"/>
            <a:ext cx="2927106" cy="3238500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64303A-87FE-4068-B030-99CBBF3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0B3D"/>
                </a:solidFill>
              </a:defRPr>
            </a:pPr>
            <a:r>
              <a:rPr sz="2400" b="1">
                <a:solidFill>
                  <a:srgbClr val="070B3D"/>
                </a:solidFill>
              </a:rPr>
              <a:t>Crédito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8C1F5-2F85-4A96-BDE8-5C0E4EF5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00375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D"/>
                </a:solidFill>
              </a:defRPr>
            </a:pPr>
            <a:r>
              <a:rPr sz="1575" b="0">
                <a:solidFill>
                  <a:srgbClr val="666B7D"/>
                </a:solidFill>
              </a:rPr>
              <a:t>aparece em primeiro lugar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CA04E-0661-4E9D-941C-E8FF7E2C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32379"/>
                </a:solidFill>
              </a:defRPr>
            </a:pPr>
            <a:r>
              <a:rPr sz="1950" b="1">
                <a:solidFill>
                  <a:srgbClr val="C32379"/>
                </a:solidFill>
              </a:rPr>
              <a:t>R$ 150,46 milhões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3BD66-E49C-490C-9D2B-846B1934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ORIGEM: DATA MART DE VENDAS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36F321-C33D-49BB-A7FC-34F8C620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fc653447e4d78"/>
          <a:srcRect xmlns:a="http://schemas.openxmlformats.org/drawingml/2006/main" l="23518" t="0" r="235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223837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58FC0-1C94-4A29-BA3B-BB55DE6A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863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A coluna “descrição” identifica a forma de pagamento.</a:t>
            </a:r>
          </a:p>
        </p:txBody>
      </p:sp>
    </p:spTree>
    <p:extLst>
      <p:ext uri="{BB962C8B-B14F-4D97-AF65-F5344CB8AC3E}">
        <p14:creationId xmlns:p14="http://schemas.microsoft.com/office/powerpoint/2010/main" val="1863204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37E2B-8614-445E-BAC8-F9065E5B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0643A-FAB3-42FA-AAAD-BC7E40D3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7B480-6E56-4067-8832-545F9949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54B9DB-CBEA-4FF4-88B8-9CD1128C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Clientes que mais compram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22711-06C4-46DB-982D-50802CFB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O Data Mart de Clientes reúne quantidade e faturamento por cliente.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F6838-E431-450E-B25D-61C53A1F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DATA MART DE CLIENTES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32D1B-A855-4C6F-91CB-D19E8442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2957783fb4f8d"/>
          <a:srcRect xmlns:a="http://schemas.openxmlformats.org/drawingml/2006/main" l="8862" t="0" r="88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190750"/>
            <a:ext cx="6858000" cy="3667125"/>
          </a:xfrm>
          <a:prstGeom xmlns:a="http://schemas.openxmlformats.org/drawingml/2006/main" prst="roundRect">
            <a:avLst>
              <a:gd name="adj" fmla="val 207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45BFA-0CA2-4B60-B1C3-6642DD75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571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6C8C"/>
                </a:solidFill>
              </a:defRPr>
            </a:pPr>
            <a:r>
              <a:rPr sz="1050" b="1">
                <a:solidFill>
                  <a:srgbClr val="116C8C"/>
                </a:solidFill>
              </a:rPr>
              <a:t>MAIOR CLIENTE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83BCD-7CAC-40B4-BD6F-4A244A6F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76450"/>
            <a:ext cx="357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E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3FE56-2F88-4036-90EC-F91CDCD3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33625"/>
            <a:ext cx="357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0B3D"/>
                </a:solidFill>
              </a:defRPr>
            </a:pPr>
            <a:r>
              <a:rPr sz="2250" b="1">
                <a:solidFill>
                  <a:srgbClr val="070B3D"/>
                </a:solidFill>
              </a:rPr>
              <a:t>Mendes Bezerra</a:t>
            </a:r>
          </a:p>
          <a:p xmlns:a="http://schemas.openxmlformats.org/drawingml/2006/main">
            <a:pPr algn="l">
              <a:defRPr sz="2250" b="1">
                <a:solidFill>
                  <a:srgbClr val="070B3D"/>
                </a:solidFill>
              </a:defRPr>
            </a:pPr>
            <a:r>
              <a:rPr sz="2250" b="1">
                <a:solidFill>
                  <a:srgbClr val="070B3D"/>
                </a:solidFill>
              </a:rPr>
              <a:t>Comércio de Móveis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2EDF94-4DEE-486D-B2A2-1246AB24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766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6C8C"/>
                </a:solidFill>
              </a:defRPr>
            </a:pPr>
            <a:r>
              <a:rPr sz="2100" b="1">
                <a:solidFill>
                  <a:srgbClr val="116C8C"/>
                </a:solidFill>
              </a:rPr>
              <a:t>R$ 322,98 mil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0C70-D13E-4B4B-9BC1-2505BF4A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00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B7D"/>
                </a:solidFill>
              </a:defRPr>
            </a:pPr>
            <a:r>
              <a:rPr sz="1575" b="0">
                <a:solidFill>
                  <a:srgbClr val="666B7D"/>
                </a:solidFill>
              </a:rPr>
              <a:t>349 itens comprados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C6FFE8-E1E5-4136-8DD2-4B6CE68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6250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530"/>
                </a:solidFill>
              </a:defRPr>
            </a:pPr>
            <a:r>
              <a:rPr sz="1500" b="1">
                <a:solidFill>
                  <a:srgbClr val="111530"/>
                </a:solidFill>
              </a:rPr>
              <a:t>O ranking ajuda a empresa a reconhecer os clientes de maior valor.</a:t>
            </a:r>
          </a:p>
        </p:txBody>
      </p:sp>
    </p:spTree>
    <p:extLst>
      <p:ext uri="{BB962C8B-B14F-4D97-AF65-F5344CB8AC3E}">
        <p14:creationId xmlns:p14="http://schemas.microsoft.com/office/powerpoint/2010/main" val="7792984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75F52B-D92A-45CC-B136-8D8555B8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4F6F3-6E96-4CAC-91B4-A9506029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738D0-74CC-42E4-AB1B-415611AF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AA71D-049B-435E-8873-17942170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Data Mart de Vendas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96C94-1A52-469F-A795-08B60F68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Visão ampliada das informações utilizadas na análise das vendas.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9573898de4655"/>
          <a:stretch xmlns:a="http://schemas.openxmlformats.org/drawingml/2006/main"/>
        </p:blipFill>
        <p:spPr>
          <a:xfrm xmlns:a="http://schemas.openxmlformats.org/drawingml/2006/main">
            <a:off x="1217932" y="1714500"/>
            <a:ext cx="9756136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357E8-5632-4BB3-9981-5F48B303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B7D"/>
                </a:solidFill>
              </a:defRPr>
            </a:pPr>
            <a:r>
              <a:rPr sz="1350" b="1">
                <a:solidFill>
                  <a:srgbClr val="666B7D"/>
                </a:solidFill>
              </a:rPr>
              <a:t>Ano • mês • categoria • produto • forma de pagamento • quantidade • faturamento</a:t>
            </a:r>
          </a:p>
        </p:txBody>
      </p:sp>
    </p:spTree>
    <p:extLst>
      <p:ext uri="{BB962C8B-B14F-4D97-AF65-F5344CB8AC3E}">
        <p14:creationId xmlns:p14="http://schemas.microsoft.com/office/powerpoint/2010/main" val="6417441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D0939E-3547-4C5B-9D89-68310E6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B2504-74EA-4CD7-B43A-AE389342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E0428-28DB-445D-8C72-CD5F1A13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9E263-94C0-4DDA-8C23-031A6363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Data Mart de Clientes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1EF85-501C-4BE1-889E-FA6AB033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Visão ampliada das compras e do faturamento por cliente.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1dae6d8114d80"/>
          <a:stretch xmlns:a="http://schemas.openxmlformats.org/drawingml/2006/main"/>
        </p:blipFill>
        <p:spPr>
          <a:xfrm xmlns:a="http://schemas.openxmlformats.org/drawingml/2006/main">
            <a:off x="1062286" y="1714500"/>
            <a:ext cx="10067428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F42C9-7C6F-49F0-B52D-74544AC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B7D"/>
                </a:solidFill>
              </a:defRPr>
            </a:pPr>
            <a:r>
              <a:rPr sz="1350" b="1">
                <a:solidFill>
                  <a:srgbClr val="666B7D"/>
                </a:solidFill>
              </a:rPr>
              <a:t>Ano • mês • cliente • quantidade • faturamento</a:t>
            </a:r>
          </a:p>
        </p:txBody>
      </p:sp>
    </p:spTree>
    <p:extLst>
      <p:ext uri="{BB962C8B-B14F-4D97-AF65-F5344CB8AC3E}">
        <p14:creationId xmlns:p14="http://schemas.microsoft.com/office/powerpoint/2010/main" val="11134270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D6F36D-3D33-4900-86B2-53BCB99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D6A01C-0DF7-4A9E-99D0-90AFDA52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0B3D"/>
                </a:solidFill>
              </a:defRPr>
            </a:pPr>
            <a:r>
              <a:rPr sz="1050" b="1">
                <a:solidFill>
                  <a:srgbClr val="070B3D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005F8-F6F7-4764-B475-B7BDAA35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B7D"/>
                </a:solidFill>
              </a:defRPr>
            </a:pPr>
            <a:r>
              <a:rPr sz="975" b="1">
                <a:solidFill>
                  <a:srgbClr val="666B7D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E4C94-F461-4EE6-87DC-8A466778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0B3D"/>
                </a:solidFill>
              </a:defRPr>
            </a:pPr>
            <a:r>
              <a:rPr sz="2850" b="1">
                <a:solidFill>
                  <a:srgbClr val="070B3D"/>
                </a:solidFill>
              </a:rPr>
              <a:t>Data Mart Produtos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E7D58-6F8C-44B3-8A6D-574606F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B7D"/>
                </a:solidFill>
              </a:defRPr>
            </a:pPr>
            <a:r>
              <a:rPr sz="1350" b="0">
                <a:solidFill>
                  <a:srgbClr val="666B7D"/>
                </a:solidFill>
              </a:rPr>
              <a:t>Quantidade vendida e faturamento por produto.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2de6ef0f24897"/>
          <a:stretch xmlns:a="http://schemas.openxmlformats.org/drawingml/2006/main"/>
        </p:blipFill>
        <p:spPr>
          <a:xfrm xmlns:a="http://schemas.openxmlformats.org/drawingml/2006/main">
            <a:off x="2824184" y="1714500"/>
            <a:ext cx="6543632" cy="4429125"/>
          </a:xfrm>
          <a:prstGeom xmlns:a="http://schemas.openxmlformats.org/drawingml/2006/main" prst="roundRect">
            <a:avLst>
              <a:gd name="adj" fmla="val 172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544C7-3070-4DAC-BBD7-77871550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6B7D"/>
                </a:solidFill>
              </a:defRPr>
            </a:pPr>
            <a:r>
              <a:rPr sz="1350" b="1">
                <a:solidFill>
                  <a:srgbClr val="666B7D"/>
                </a:solidFill>
              </a:rPr>
              <a:t>Categoria • produto • quantidade vendida • faturamento</a:t>
            </a:r>
          </a:p>
        </p:txBody>
      </p:sp>
    </p:spTree>
    <p:extLst>
      <p:ext uri="{BB962C8B-B14F-4D97-AF65-F5344CB8AC3E}">
        <p14:creationId xmlns:p14="http://schemas.microsoft.com/office/powerpoint/2010/main" val="1934470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5BD663-107D-4403-AF5B-69D17DF7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23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72F3E-0E68-49FA-A124-F267A2D9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ELA 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5E3D3-A2BE-4238-B8C4-5672F31B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7C0D7"/>
                </a:solidFill>
              </a:defRPr>
            </a:pPr>
            <a:r>
              <a:rPr sz="975" b="1">
                <a:solidFill>
                  <a:srgbClr val="B7C0D7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5FC06-17F8-4AD2-9CE1-8B1167BD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 que conseguimos descobrir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2C3AE-93DE-467B-B70E-32F8121D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AEC3"/>
                </a:solidFill>
              </a:defRPr>
            </a:pPr>
            <a:r>
              <a:rPr sz="1425" b="1">
                <a:solidFill>
                  <a:srgbClr val="25AEC3"/>
                </a:solidFill>
              </a:rPr>
              <a:t>Vendas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D1D7D-0E00-4881-A154-5269988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9526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crescimento do faturamento médio ao longo dos períodos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D53FF-4CB5-443D-B7F1-2172B264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384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00E6D-DC0A-4694-A1E0-D4D43DDF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955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AEC3"/>
                </a:solidFill>
              </a:defRPr>
            </a:pPr>
            <a:r>
              <a:rPr sz="1425" b="1">
                <a:solidFill>
                  <a:srgbClr val="25AEC3"/>
                </a:solidFill>
              </a:rPr>
              <a:t>Categoria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7F672-1C41-425A-868A-F0475BA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955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Informática lidera com 32%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6F8CC-F61E-4F79-839D-E15D2254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81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0144C-FBC1-4F37-849A-6634D12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385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AEC3"/>
                </a:solidFill>
              </a:defRPr>
            </a:pPr>
            <a:r>
              <a:rPr sz="1425" b="1">
                <a:solidFill>
                  <a:srgbClr val="25AEC3"/>
                </a:solidFill>
              </a:rPr>
              <a:t>Produto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73A650-C64F-4269-93AB-B4BB306D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385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Lavadora Ganca 10L gera o maior faturamento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FE82A-5542-406F-916B-CC142BF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849FB0-8F0F-45A0-BEFD-8E32D558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AEC3"/>
                </a:solidFill>
              </a:defRPr>
            </a:pPr>
            <a:r>
              <a:rPr sz="1425" b="1">
                <a:solidFill>
                  <a:srgbClr val="25AEC3"/>
                </a:solidFill>
              </a:rPr>
              <a:t>Pagamento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C7BD0-6AC7-44C0-A46B-4A3DC706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8147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Crédito aparece como a principal forma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5DCBE-4821-4AF4-9AB6-3094DA2C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63675-5FE3-40F0-B00B-CA0A3B4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5AEC3"/>
                </a:solidFill>
              </a:defRPr>
            </a:pPr>
            <a:r>
              <a:rPr sz="1425" b="1">
                <a:solidFill>
                  <a:srgbClr val="25AEC3"/>
                </a:solidFill>
              </a:rPr>
              <a:t>Cliente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7A494-FDB8-4756-A52E-14717EAA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24425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Mendes Bezerra lidera em faturamento e quantidade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63243-4D79-48B4-81C5-2ADD815A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102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F02EA5-A99E-4BAF-8E62-7E5CA14F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32379"/>
                </a:solidFill>
              </a:defRPr>
            </a:pPr>
            <a:r>
              <a:rPr sz="1650" b="1">
                <a:solidFill>
                  <a:srgbClr val="C32379"/>
                </a:solidFill>
              </a:rPr>
              <a:t>ELA Analytics — onde os dados contam a história do negócio.</a:t>
            </a:r>
          </a:p>
        </p:txBody>
      </p:sp>
    </p:spTree>
    <p:extLst>
      <p:ext uri="{BB962C8B-B14F-4D97-AF65-F5344CB8AC3E}">
        <p14:creationId xmlns:p14="http://schemas.microsoft.com/office/powerpoint/2010/main" val="2060327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2026-07-25T06:29:29.3630000Z</dcterms:created>
  <dcterms:modified xsi:type="dcterms:W3CDTF">2026-07-25T06:29:29.3630000Z</dcterms:modified>
</coreProperties>
</file>